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9448495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828800"/>
            <a:ext cx="85340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3B82F6"/>
                </a:solidFill>
              </a:defRPr>
            </a:pPr>
            <a:r>
              <a:t>Unilogic AI</a:t>
            </a:r>
          </a:p>
          <a:p>
            <a:pPr>
              <a:spcBef>
                <a:spcPts val="1400"/>
              </a:spcBef>
              <a:defRPr sz="2800" b="1">
                <a:solidFill>
                  <a:srgbClr val="F8FAFC"/>
                </a:solidFill>
              </a:defRPr>
            </a:pPr>
            <a:r>
              <a:t>AI-Powered Product Intelligence for Industrial Commerce</a:t>
            </a:r>
          </a:p>
          <a:p>
            <a:pPr>
              <a:spcBef>
                <a:spcPts val="1600"/>
              </a:spcBef>
              <a:defRPr sz="1800">
                <a:solidFill>
                  <a:srgbClr val="94A3B8"/>
                </a:solidFill>
              </a:defRPr>
            </a:pPr>
            <a:r>
              <a:t>Transforming minimal, cryptic supplier strings into rich 252-column commerce-ready product catalogs.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The Challenge: Messy Raw Catalog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32918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2926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9E0B"/>
                </a:solidFill>
              </a:defRPr>
            </a:pPr>
            <a:r>
              <a:t>Cryptic &amp; Abbreviated</a:t>
            </a:r>
          </a:p>
          <a:p>
            <a:pPr>
              <a:spcBef>
                <a:spcPts val="1400"/>
              </a:spcBef>
              <a:defRPr sz="1500">
                <a:solidFill>
                  <a:srgbClr val="94A3B8"/>
                </a:solidFill>
              </a:defRPr>
            </a:pPr>
            <a:r>
              <a:t>Descriptions like '3/8 CPLG BRS 150#' are fragmented, missing key attributes and unsearchable by end buyers.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828800"/>
            <a:ext cx="32918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2103120"/>
            <a:ext cx="2926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B6D4"/>
                </a:solidFill>
              </a:defRPr>
            </a:pPr>
            <a:r>
              <a:t>Supplier &amp; Brand Noise</a:t>
            </a:r>
          </a:p>
          <a:p>
            <a:pPr>
              <a:spcBef>
                <a:spcPts val="1400"/>
              </a:spcBef>
              <a:defRPr sz="1500">
                <a:solidFill>
                  <a:srgbClr val="94A3B8"/>
                </a:solidFill>
              </a:defRPr>
            </a:pPr>
            <a:r>
              <a:t>Same manufacturer under 6 spellings ('Appliance Dealers Cooperative (APPDE)'). Field values filled with '-- Unbranded --'.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828800"/>
            <a:ext cx="32918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2103120"/>
            <a:ext cx="2926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0B981"/>
                </a:solidFill>
              </a:defRPr>
            </a:pPr>
            <a:r>
              <a:t>Strict Formatting Rules</a:t>
            </a:r>
          </a:p>
          <a:p>
            <a:pPr>
              <a:spcBef>
                <a:spcPts val="1400"/>
              </a:spcBef>
              <a:defRPr sz="1500">
                <a:solidFill>
                  <a:srgbClr val="94A3B8"/>
                </a:solidFill>
              </a:defRPr>
            </a:pPr>
            <a:r>
              <a:t>5 description variants required (Invoice Desc ≤40 UPPERCASE), UOM spacing rules ('24 in'), and 63 inch decimal conversions.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System Architecture: 7 Sequential AI Agents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10362895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920240"/>
            <a:ext cx="9784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700" b="1">
                <a:solidFill>
                  <a:srgbClr val="F8FAFC"/>
                </a:solidFill>
              </a:defRPr>
            </a:pPr>
            <a:r>
              <a:t>1. Ingestion &amp; De-duplication (Filter '-- Unbranded --' placeholders)</a:t>
            </a:r>
          </a:p>
          <a:p>
            <a:pPr>
              <a:spcBef>
                <a:spcPts val="1000"/>
              </a:spcBef>
              <a:defRPr sz="1700" b="1">
                <a:solidFill>
                  <a:srgbClr val="F8FAFC"/>
                </a:solidFill>
              </a:defRPr>
            </a:pPr>
            <a:r>
              <a:t>2. Entity Resolution (Canonical Rheem Manufacturing &amp; FRIGIDAIRE®)</a:t>
            </a:r>
          </a:p>
          <a:p>
            <a:pPr>
              <a:spcBef>
                <a:spcPts val="1000"/>
              </a:spcBef>
              <a:defRPr sz="1700" b="1">
                <a:solidFill>
                  <a:srgbClr val="F8FAFC"/>
                </a:solidFill>
              </a:defRPr>
            </a:pPr>
            <a:r>
              <a:t>3. Taxonomy Classification (Dept &gt; Class &gt; Fine &gt; UNSPSC &gt; Classpath)</a:t>
            </a:r>
          </a:p>
          <a:p>
            <a:pPr>
              <a:spcBef>
                <a:spcPts val="1000"/>
              </a:spcBef>
              <a:defRPr sz="1700" b="1">
                <a:solidFill>
                  <a:srgbClr val="F8FAFC"/>
                </a:solidFill>
              </a:defRPr>
            </a:pPr>
            <a:r>
              <a:t>4. LOV &amp; UOM Normalizer (500+ UOMs: '24 in', '120 V', '15 A')</a:t>
            </a:r>
          </a:p>
          <a:p>
            <a:pPr>
              <a:spcBef>
                <a:spcPts val="1000"/>
              </a:spcBef>
              <a:defRPr sz="1700" b="1">
                <a:solidFill>
                  <a:srgbClr val="F8FAFC"/>
                </a:solidFill>
              </a:defRPr>
            </a:pPr>
            <a:r>
              <a:t>5. Decimal-to-Fraction Engine (63 fractions: 50.25 in -&gt; 50-1/4 in)</a:t>
            </a:r>
          </a:p>
          <a:p>
            <a:pPr>
              <a:spcBef>
                <a:spcPts val="1000"/>
              </a:spcBef>
              <a:defRPr sz="1700" b="1">
                <a:solidFill>
                  <a:srgbClr val="F8FAFC"/>
                </a:solidFill>
              </a:defRPr>
            </a:pPr>
            <a:r>
              <a:t>6. Content Description Builder (Invoice ≤40 UPPERCASE, Mobile 60-80)</a:t>
            </a:r>
          </a:p>
          <a:p>
            <a:pPr>
              <a:spcBef>
                <a:spcPts val="1000"/>
              </a:spcBef>
              <a:defRPr sz="1700" b="1">
                <a:solidFill>
                  <a:srgbClr val="F8FAFC"/>
                </a:solidFill>
              </a:defRPr>
            </a:pPr>
            <a:r>
              <a:t>7. Autonomous Audit Agent (Confidence scoring &amp; HITL review queue)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Key Innovation: Entity Resolution &amp; UOM Standards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493776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B6D4"/>
                </a:solidFill>
              </a:defRPr>
            </a:pPr>
            <a:r>
              <a:t>Brand Entity Resolution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• Fuzzy matching against 27,000+ UniCat canonical entries.</a:t>
            </a:r>
            <a:br/>
            <a:r>
              <a:t>• Removes supplier noise &amp; codes (e.g. 'APPDE').</a:t>
            </a:r>
            <a:br/>
            <a:r>
              <a:t>• Preserves legal symbols (® and ™) e.g., 'FRIGIDAIRE®'.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493776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0B981"/>
                </a:solidFill>
              </a:defRPr>
            </a:pPr>
            <a:r>
              <a:t>Master UOM Standardizer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• 500+ approved UOM abbreviations mapped.</a:t>
            </a:r>
            <a:br/>
            <a:r>
              <a:t>• Strict Single-Space Rule: '24 in' (not '24in'), '120 V' (not '120V').</a:t>
            </a:r>
            <a:br/>
            <a:r>
              <a:t>• Compound dimension parsing: '24 in W x 24-1/4 in D'.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Trade Fractions &amp; 5 Description Formats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10362895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920240"/>
            <a:ext cx="9784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 b="1">
                <a:solidFill>
                  <a:srgbClr val="F59E0B"/>
                </a:solidFill>
              </a:defRPr>
            </a:pPr>
            <a:r>
              <a:t>63 Inch Fraction Conversion: </a:t>
            </a:r>
            <a:r>
              <a:rPr b="0">
                <a:solidFill>
                  <a:srgbClr val="94A3B8"/>
                </a:solidFill>
              </a:rPr>
              <a:t>Manufacturers publish decimals (50.25); trade buyers search fractions. Automatic exact 1/64 to 63/64 conversion ('50-1/4 in').</a:t>
            </a:r>
          </a:p>
          <a:p>
            <a:pPr>
              <a:spcBef>
                <a:spcPts val="800"/>
              </a:spcBef>
              <a:defRPr sz="1600" b="1">
                <a:solidFill>
                  <a:srgbClr val="F59E0B"/>
                </a:solidFill>
              </a:defRPr>
            </a:pPr>
            <a:r>
              <a:t>INVOICE_DESC (≤40 Chars, UPPERCASE): </a:t>
            </a:r>
            <a:r>
              <a:rPr b="0">
                <a:solidFill>
                  <a:srgbClr val="94A3B8"/>
                </a:solidFill>
              </a:rPr>
              <a:t>Strict character limit &amp; UPPERCASE validation: 'DISHWASHER LEG 5 SST 120V 15A 50-1/4IN'.</a:t>
            </a:r>
          </a:p>
          <a:p>
            <a:pPr>
              <a:spcBef>
                <a:spcPts val="800"/>
              </a:spcBef>
              <a:defRPr sz="1600" b="1">
                <a:solidFill>
                  <a:srgbClr val="F59E0B"/>
                </a:solidFill>
              </a:defRPr>
            </a:pPr>
            <a:r>
              <a:t>MOBILE_DESC (60-80 Chars): </a:t>
            </a:r>
            <a:r>
              <a:rPr b="0">
                <a:solidFill>
                  <a:srgbClr val="94A3B8"/>
                </a:solidFill>
              </a:rPr>
              <a:t>Target length formula: '[Manufacturer] [Brand], [Product Type], [Series], [MPN]'.</a:t>
            </a:r>
          </a:p>
          <a:p>
            <a:pPr>
              <a:spcBef>
                <a:spcPts val="800"/>
              </a:spcBef>
              <a:defRPr sz="1600" b="1">
                <a:solidFill>
                  <a:srgbClr val="F59E0B"/>
                </a:solidFill>
              </a:defRPr>
            </a:pPr>
            <a:r>
              <a:t>SHORT_DESC / Product Title: </a:t>
            </a:r>
            <a:r>
              <a:rPr b="0">
                <a:solidFill>
                  <a:srgbClr val="94A3B8"/>
                </a:solidFill>
              </a:rPr>
              <a:t>[Brand] [Series] [MPN] [Product Name] With [Feature], [Key Attributes].</a:t>
            </a:r>
          </a:p>
          <a:p>
            <a:pPr>
              <a:spcBef>
                <a:spcPts val="800"/>
              </a:spcBef>
              <a:defRPr sz="1600" b="1">
                <a:solidFill>
                  <a:srgbClr val="F59E0B"/>
                </a:solidFill>
              </a:defRPr>
            </a:pPr>
            <a:r>
              <a:t>LONG_DESC &amp; RETAIL_DESC: </a:t>
            </a:r>
            <a:r>
              <a:rPr b="0">
                <a:solidFill>
                  <a:srgbClr val="94A3B8"/>
                </a:solidFill>
              </a:rPr>
              <a:t>Full technical summary with standard UOMs + consumer marketing summary.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Ground Truth Benchmark Scoring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493776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828800"/>
            <a:ext cx="438912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0B981"/>
                </a:solidFill>
              </a:defRPr>
            </a:pPr>
            <a:r>
              <a:t>100.0%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Invoice Desc Compliance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≤40 Chars &amp; 100% UPPERCASE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493776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38912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0B981"/>
                </a:solidFill>
              </a:defRPr>
            </a:pPr>
            <a:r>
              <a:t>100.0%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Mobile Desc Compliance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60–80 Chars Target Window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023360"/>
            <a:ext cx="493776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4206240"/>
            <a:ext cx="438912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3B82F6"/>
                </a:solidFill>
              </a:defRPr>
            </a:pPr>
            <a:r>
              <a:t>68.95%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Overall Alignment Score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252 Delivery Format Fields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023360"/>
            <a:ext cx="493776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4206240"/>
            <a:ext cx="438912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6B6D4"/>
                </a:solidFill>
              </a:defRPr>
            </a:pPr>
            <a:r>
              <a:t>65.67%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Fuzzy Match Accuracy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Semantic Entity Alignment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Full-Stack Glassmorphic Web App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10362895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920240"/>
            <a:ext cx="9784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800" b="1">
                <a:solidFill>
                  <a:srgbClr val="F8FAFC"/>
                </a:solidFill>
              </a:defRPr>
            </a:pPr>
            <a:r>
              <a:t>• Pipeline Studio: Real-time 7-agent step visualizer with live character length meters.</a:t>
            </a:r>
          </a:p>
          <a:p>
            <a:pPr>
              <a:spcBef>
                <a:spcPts val="1400"/>
              </a:spcBef>
              <a:defRPr sz="1800" b="1">
                <a:solidFill>
                  <a:srgbClr val="F8FAFC"/>
                </a:solidFill>
              </a:defRPr>
            </a:pPr>
            <a:r>
              <a:t>• Batch Catalog Engine: Process 1,000 catalog rows with search, filter, and 252-column CSV download.</a:t>
            </a:r>
          </a:p>
          <a:p>
            <a:pPr>
              <a:spcBef>
                <a:spcPts val="1400"/>
              </a:spcBef>
              <a:defRPr sz="1800" b="1">
                <a:solidFill>
                  <a:srgbClr val="F8FAFC"/>
                </a:solidFill>
              </a:defRPr>
            </a:pPr>
            <a:r>
              <a:t>• Ground Truth Benchmark View: Real-time scorecards and rule compliance audit.</a:t>
            </a:r>
          </a:p>
          <a:p>
            <a:pPr>
              <a:spcBef>
                <a:spcPts val="1400"/>
              </a:spcBef>
              <a:defRPr sz="1800" b="1">
                <a:solidFill>
                  <a:srgbClr val="F8FAFC"/>
                </a:solidFill>
              </a:defRPr>
            </a:pPr>
            <a:r>
              <a:t>• Human-In-The-Loop (HITL) Studio: Review queue for data stewards to inspect &amp; override flagged rows.</a:t>
            </a:r>
          </a:p>
          <a:p>
            <a:pPr>
              <a:spcBef>
                <a:spcPts val="1400"/>
              </a:spcBef>
              <a:defRPr sz="1800" b="1">
                <a:solidFill>
                  <a:srgbClr val="F8FAFC"/>
                </a:solidFill>
              </a:defRPr>
            </a:pPr>
            <a:r>
              <a:t>• Master Guidelines Viewer: Interactive content formula &amp; UOM reference cheat sheet.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Enterprise Value &amp; Scalability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645920"/>
            <a:ext cx="9448495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920240"/>
            <a:ext cx="88696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2000" b="1">
                <a:solidFill>
                  <a:srgbClr val="F8FAFC"/>
                </a:solidFill>
              </a:defRPr>
            </a:pPr>
            <a:r>
              <a:t>1. Instant Scalability: Transform millions of raw distributor catalog rows in minutes.</a:t>
            </a:r>
          </a:p>
          <a:p>
            <a:pPr>
              <a:spcBef>
                <a:spcPts val="1600"/>
              </a:spcBef>
              <a:defRPr sz="2000" b="1">
                <a:solidFill>
                  <a:srgbClr val="F8FAFC"/>
                </a:solidFill>
              </a:defRPr>
            </a:pPr>
            <a:r>
              <a:t>2. Zero Invented Facts: 100% constrained within Unilog Master UOM &amp; LOV vocabularies.</a:t>
            </a:r>
          </a:p>
          <a:p>
            <a:pPr>
              <a:spcBef>
                <a:spcPts val="1600"/>
              </a:spcBef>
              <a:defRPr sz="2000" b="1">
                <a:solidFill>
                  <a:srgbClr val="F8FAFC"/>
                </a:solidFill>
              </a:defRPr>
            </a:pPr>
            <a:r>
              <a:t>3. REST API Ready: Plug-and-play FastAPI integration for PIM, ERP, and e-commerce platforms.</a:t>
            </a:r>
          </a:p>
          <a:p>
            <a:pPr>
              <a:spcBef>
                <a:spcPts val="1600"/>
              </a:spcBef>
              <a:defRPr sz="2000" b="1">
                <a:solidFill>
                  <a:srgbClr val="F8FAFC"/>
                </a:solidFill>
              </a:defRPr>
            </a:pPr>
            <a:r>
              <a:t>4. Measurable Accuracy: 100% constraint pass rate backed by labeled ground truth evaluation.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