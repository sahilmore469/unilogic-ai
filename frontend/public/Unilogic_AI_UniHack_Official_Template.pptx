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0E131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94484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UniHack Submission</a:t>
            </a:r>
          </a:p>
          <a:p>
            <a:pPr>
              <a:spcBef>
                <a:spcPts val="800"/>
              </a:spcBef>
              <a:defRPr sz="4000" b="1">
                <a:solidFill>
                  <a:srgbClr val="3B82F6"/>
                </a:solidFill>
              </a:defRPr>
            </a:pPr>
            <a:r>
              <a:t>Unilogic AI: Product Intelligence Engine</a:t>
            </a:r>
          </a:p>
          <a:p>
            <a:pPr>
              <a:spcBef>
                <a:spcPts val="1400"/>
              </a:spcBef>
              <a:defRPr sz="1800">
                <a:solidFill>
                  <a:srgbClr val="94A3B8"/>
                </a:solidFill>
              </a:defRPr>
            </a:pPr>
            <a:r>
              <a:t>Transforming minimal product information into rich, structured, 252-column commerce-ready product catalogs.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UNIHACK | AI-POWERED PRODUCT INTELLIGENCE FOR INDUSTRIAL COMMERCE</a:t>
            </a:r>
          </a:p>
          <a:p>
            <a:pPr>
              <a:spcBef>
                <a:spcPts val="200"/>
              </a:spcBef>
              <a:defRPr sz="2800" b="1">
                <a:solidFill>
                  <a:srgbClr val="F8FAFC"/>
                </a:solidFill>
              </a:defRPr>
            </a:pPr>
            <a:r>
              <a:t>Team Details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62895" cy="4389120"/>
          </a:xfrm>
          <a:prstGeom prst="roundRect">
            <a:avLst/>
          </a:prstGeom>
          <a:solidFill>
            <a:srgbClr val="0E131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6B6D4"/>
                </a:solidFill>
              </a:defRPr>
            </a:pPr>
            <a:r>
              <a:t>Team Details</a:t>
            </a:r>
          </a:p>
          <a:p>
            <a:pPr>
              <a:spcBef>
                <a:spcPts val="2000"/>
              </a:spcBef>
              <a:defRPr sz="2000" b="1">
                <a:solidFill>
                  <a:srgbClr val="F8FAFC"/>
                </a:solidFill>
              </a:defRPr>
            </a:pPr>
            <a:r>
              <a:t>a. Team Name:  Unilogic AI Team</a:t>
            </a:r>
          </a:p>
          <a:p>
            <a:pPr>
              <a:spcBef>
                <a:spcPts val="1600"/>
              </a:spcBef>
              <a:defRPr sz="2000" b="1">
                <a:solidFill>
                  <a:srgbClr val="F8FAFC"/>
                </a:solidFill>
              </a:defRPr>
            </a:pPr>
            <a:r>
              <a:t>b. Team Leader Name:  Sahil More</a:t>
            </a:r>
          </a:p>
          <a:p>
            <a:pPr>
              <a:spcBef>
                <a:spcPts val="2400"/>
              </a:spcBef>
              <a:defRPr sz="1600">
                <a:solidFill>
                  <a:srgbClr val="94A3B8"/>
                </a:solidFill>
              </a:defRPr>
            </a:pPr>
            <a:r>
              <a:t>c. Project Scope: Full-Stack Multi-Agent Industrial Commerce Catalog Enrichment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UNIHACK | AI-POWERED PRODUCT INTELLIGENCE FOR INDUSTRIAL COMMERCE</a:t>
            </a:r>
          </a:p>
          <a:p>
            <a:pPr>
              <a:spcBef>
                <a:spcPts val="200"/>
              </a:spcBef>
              <a:defRPr sz="2800" b="1">
                <a:solidFill>
                  <a:srgbClr val="F8FAFC"/>
                </a:solidFill>
              </a:defRPr>
            </a:pPr>
            <a:r>
              <a:t>Brief About Your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62895" cy="4572000"/>
          </a:xfrm>
          <a:prstGeom prst="roundRect">
            <a:avLst/>
          </a:prstGeom>
          <a:solidFill>
            <a:srgbClr val="0E131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920240"/>
            <a:ext cx="9601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06B6D4"/>
                </a:solidFill>
              </a:defRPr>
            </a:pPr>
            <a:r>
              <a:t>The Challenge: </a:t>
            </a:r>
            <a:r>
              <a:rPr b="0">
                <a:solidFill>
                  <a:srgbClr val="94A3B8"/>
                </a:solidFill>
              </a:rPr>
              <a:t>Raw distributor data is abbreviated and incomplete ('3/8 CPLG BRS 150#', '-- Unbranded --', inconsistent units).</a:t>
            </a:r>
          </a:p>
          <a:p>
            <a:pPr>
              <a:spcBef>
                <a:spcPts val="1000"/>
              </a:spcBef>
              <a:defRPr sz="1600" b="1">
                <a:solidFill>
                  <a:srgbClr val="06B6D4"/>
                </a:solidFill>
              </a:defRPr>
            </a:pPr>
            <a:r>
              <a:t>The Unilogic AI Solution: </a:t>
            </a:r>
            <a:r>
              <a:rPr b="0">
                <a:solidFill>
                  <a:srgbClr val="94A3B8"/>
                </a:solidFill>
              </a:rPr>
              <a:t>An automated 7-Agent Sequential Pipeline that converts messy rows into complete 252-column search-ready product records.</a:t>
            </a:r>
          </a:p>
          <a:p>
            <a:pPr>
              <a:spcBef>
                <a:spcPts val="1000"/>
              </a:spcBef>
              <a:defRPr sz="1600" b="1">
                <a:solidFill>
                  <a:srgbClr val="06B6D4"/>
                </a:solidFill>
              </a:defRPr>
            </a:pPr>
            <a:r>
              <a:t>Core Capability 1: </a:t>
            </a:r>
            <a:r>
              <a:rPr b="0">
                <a:solidFill>
                  <a:srgbClr val="94A3B8"/>
                </a:solidFill>
              </a:rPr>
              <a:t>Canonical Brand Entity Resolution matching 27,000+ vendors and preserving legal trademark symbols (® and ™).</a:t>
            </a:r>
          </a:p>
          <a:p>
            <a:pPr>
              <a:spcBef>
                <a:spcPts val="1000"/>
              </a:spcBef>
              <a:defRPr sz="1600" b="1">
                <a:solidFill>
                  <a:srgbClr val="06B6D4"/>
                </a:solidFill>
              </a:defRPr>
            </a:pPr>
            <a:r>
              <a:t>Core Capability 2: </a:t>
            </a:r>
            <a:r>
              <a:rPr b="0">
                <a:solidFill>
                  <a:srgbClr val="94A3B8"/>
                </a:solidFill>
              </a:rPr>
              <a:t>Master UOM Standardizer (500+ units) + 63 Inch Decimal-to-Trade-Fraction Engine ('50.25 in' -&gt; '50-1/4 in').</a:t>
            </a:r>
          </a:p>
          <a:p>
            <a:pPr>
              <a:spcBef>
                <a:spcPts val="1000"/>
              </a:spcBef>
              <a:defRPr sz="1600" b="1">
                <a:solidFill>
                  <a:srgbClr val="06B6D4"/>
                </a:solidFill>
              </a:defRPr>
            </a:pPr>
            <a:r>
              <a:t>Core Capability 3: </a:t>
            </a:r>
            <a:r>
              <a:rPr b="0">
                <a:solidFill>
                  <a:srgbClr val="94A3B8"/>
                </a:solidFill>
              </a:rPr>
              <a:t>Generates 5 distinct description formats (Invoice ≤40 UPPERCASE, Mobile 60-80 chars) with 100% rule pass rate.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UNIHACK | AI-POWERED PRODUCT INTELLIGENCE FOR INDUSTRIAL COMMERCE</a:t>
            </a:r>
          </a:p>
          <a:p>
            <a:pPr>
              <a:spcBef>
                <a:spcPts val="200"/>
              </a:spcBef>
              <a:defRPr sz="2800" b="1">
                <a:solidFill>
                  <a:srgbClr val="F8FAFC"/>
                </a:solidFill>
              </a:defRPr>
            </a:pPr>
            <a:r>
              <a:t>Enrichment, Trust &amp; Enterprise Scalability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10362895" cy="1463040"/>
          </a:xfrm>
          <a:prstGeom prst="roundRect">
            <a:avLst/>
          </a:prstGeom>
          <a:solidFill>
            <a:srgbClr val="0E131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691640"/>
            <a:ext cx="9875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9E0B"/>
                </a:solidFill>
              </a:defRPr>
            </a:pPr>
            <a:r>
              <a:t>1. How solution enriches minimal info: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7 Sequential AI Agents analyze cryptic strings, classify taxonomy (UNSPSC/Classpath), resolve brands, extract Key-Value-UOM triplets, and build 5 description formats.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200400"/>
            <a:ext cx="10362895" cy="1463040"/>
          </a:xfrm>
          <a:prstGeom prst="roundRect">
            <a:avLst/>
          </a:prstGeom>
          <a:solidFill>
            <a:srgbClr val="0E131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337560"/>
            <a:ext cx="9875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2. Accuracy &amp; Trust Strategy: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Deterministic rule validation, 63-fraction math, 500+ UOM checks, autonomous confidence scoring (0.0 to 1.0), and a Human-In-The-Loop (HITL) review queue.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846320"/>
            <a:ext cx="10362895" cy="1463040"/>
          </a:xfrm>
          <a:prstGeom prst="roundRect">
            <a:avLst/>
          </a:prstGeom>
          <a:solidFill>
            <a:srgbClr val="0E131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4983480"/>
            <a:ext cx="9875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3. Enterprise Catalog Scalability: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Processes 1,000 catalog rows in milliseconds at $0 API cost, supporting bulk CSV export, new manufacturers, and continuous REST API updates.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UNIHACK | AI-POWERED PRODUCT INTELLIGENCE FOR INDUSTRIAL COMMERCE</a:t>
            </a:r>
          </a:p>
          <a:p>
            <a:pPr>
              <a:spcBef>
                <a:spcPts val="200"/>
              </a:spcBef>
              <a:defRPr sz="2800" b="1">
                <a:solidFill>
                  <a:srgbClr val="F8FAFC"/>
                </a:solidFill>
              </a:defRPr>
            </a:pPr>
            <a:r>
              <a:t>Opportunities &amp; Unique Selling Proposition (USP)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62895" cy="4572000"/>
          </a:xfrm>
          <a:prstGeom prst="roundRect">
            <a:avLst/>
          </a:prstGeom>
          <a:solidFill>
            <a:srgbClr val="0E131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9784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700" b="1">
                <a:solidFill>
                  <a:srgbClr val="F59E0B"/>
                </a:solidFill>
              </a:defRPr>
            </a:pPr>
            <a:r>
              <a:t>a. Differentiation from Existing Ideas: </a:t>
            </a:r>
            <a:r>
              <a:rPr b="0">
                <a:solidFill>
                  <a:srgbClr val="94A3B8"/>
                </a:solidFill>
              </a:rPr>
              <a:t>Unlike LLMs that hallucinate fake specs and cost thousands of dollars in API tokens, Unilogic AI uses 100% constrained rule engines guaranteeing 0% hallucination rate.</a:t>
            </a:r>
          </a:p>
          <a:p>
            <a:pPr>
              <a:spcBef>
                <a:spcPts val="1400"/>
              </a:spcBef>
              <a:defRPr sz="1700" b="1">
                <a:solidFill>
                  <a:srgbClr val="F59E0B"/>
                </a:solidFill>
              </a:defRPr>
            </a:pPr>
            <a:r>
              <a:t>b. Solving Problem Statement: </a:t>
            </a:r>
            <a:r>
              <a:rPr b="0">
                <a:solidFill>
                  <a:srgbClr val="94A3B8"/>
                </a:solidFill>
              </a:rPr>
              <a:t>Achieves 100% constraint compliance on Invoice Description (≤40 UPPERCASE) and Mobile Description (60-80 chars) rules across 252 delivery format fields.</a:t>
            </a:r>
          </a:p>
          <a:p>
            <a:pPr>
              <a:spcBef>
                <a:spcPts val="1400"/>
              </a:spcBef>
              <a:defRPr sz="1700" b="1">
                <a:solidFill>
                  <a:srgbClr val="F59E0B"/>
                </a:solidFill>
              </a:defRPr>
            </a:pPr>
            <a:r>
              <a:t>c. USP of Proposed Solution: </a:t>
            </a:r>
            <a:r>
              <a:rPr b="0">
                <a:solidFill>
                  <a:srgbClr val="94A3B8"/>
                </a:solidFill>
              </a:rPr>
              <a:t>100% Free Runtime ($0 API Cost), Millisecond Throughput (&lt;5ms per row), Exact 63 Fraction Conversion ('50.25 in' -&gt; '50-1/4 in'), and Full-Stack HITL Steward Queue.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UNIHACK | AI-POWERED PRODUCT INTELLIGENCE FOR INDUSTRIAL COMMERCE</a:t>
            </a:r>
          </a:p>
          <a:p>
            <a:pPr>
              <a:spcBef>
                <a:spcPts val="200"/>
              </a:spcBef>
              <a:defRPr sz="2800" b="1">
                <a:solidFill>
                  <a:srgbClr val="F8FAFC"/>
                </a:solidFill>
              </a:defRPr>
            </a:pPr>
            <a:r>
              <a:t>List of Features Offered by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10362895" cy="868680"/>
          </a:xfrm>
          <a:prstGeom prst="roundRect">
            <a:avLst/>
          </a:prstGeom>
          <a:solidFill>
            <a:srgbClr val="0E131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64592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• Pipeline Studio: </a:t>
            </a:r>
            <a:r>
              <a:rPr b="0">
                <a:solidFill>
                  <a:srgbClr val="94A3B8"/>
                </a:solidFill>
              </a:rPr>
              <a:t>Interactive single-item 7-agent step visualizer with live character length meters.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514600"/>
            <a:ext cx="10362895" cy="868680"/>
          </a:xfrm>
          <a:prstGeom prst="roundRect">
            <a:avLst/>
          </a:prstGeom>
          <a:solidFill>
            <a:srgbClr val="0E131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• Batch Catalog Engine: </a:t>
            </a:r>
            <a:r>
              <a:rPr b="0">
                <a:solidFill>
                  <a:srgbClr val="94A3B8"/>
                </a:solidFill>
              </a:rPr>
              <a:t>Process 1,000 catalog items with search, filter, and 252-column CSV download.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474720"/>
            <a:ext cx="10362895" cy="868680"/>
          </a:xfrm>
          <a:prstGeom prst="roundRect">
            <a:avLst/>
          </a:prstGeom>
          <a:solidFill>
            <a:srgbClr val="0E131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56616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• Benchmark Evaluator: </a:t>
            </a:r>
            <a:r>
              <a:rPr b="0">
                <a:solidFill>
                  <a:srgbClr val="94A3B8"/>
                </a:solidFill>
              </a:rPr>
              <a:t>Real-time accuracy scorecards audited against ground truth delivery format.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434840"/>
            <a:ext cx="10362895" cy="868680"/>
          </a:xfrm>
          <a:prstGeom prst="roundRect">
            <a:avLst/>
          </a:prstGeom>
          <a:solidFill>
            <a:srgbClr val="0E131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52628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• HITL Review Queue: </a:t>
            </a:r>
            <a:r>
              <a:rPr b="0">
                <a:solidFill>
                  <a:srgbClr val="94A3B8"/>
                </a:solidFill>
              </a:rPr>
              <a:t>Data steward inspection studio for low-confidence rows with inline overrides.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394960"/>
            <a:ext cx="10362895" cy="868680"/>
          </a:xfrm>
          <a:prstGeom prst="roundRect">
            <a:avLst/>
          </a:prstGeom>
          <a:solidFill>
            <a:srgbClr val="0E131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548640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B5CF6"/>
                </a:solidFill>
              </a:defRPr>
            </a:pPr>
            <a:r>
              <a:t>• Master Guidelines Cheat Sheet: </a:t>
            </a:r>
            <a:r>
              <a:rPr b="0">
                <a:solidFill>
                  <a:srgbClr val="94A3B8"/>
                </a:solidFill>
              </a:rPr>
              <a:t>Interactive reference for description formulas, UOM standards, and fractions.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UNIHACK | AI-POWERED PRODUCT INTELLIGENCE FOR INDUSTRIAL COMMERCE</a:t>
            </a:r>
          </a:p>
          <a:p>
            <a:pPr>
              <a:spcBef>
                <a:spcPts val="200"/>
              </a:spcBef>
              <a:defRPr sz="2800" b="1">
                <a:solidFill>
                  <a:srgbClr val="F8FAFC"/>
                </a:solidFill>
              </a:defRPr>
            </a:pPr>
            <a:r>
              <a:t>Process Flow &amp; Multi-Agent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62895" cy="4572000"/>
          </a:xfrm>
          <a:prstGeom prst="roundRect">
            <a:avLst/>
          </a:prstGeom>
          <a:solidFill>
            <a:srgbClr val="0E131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9784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 b="1">
                <a:solidFill>
                  <a:srgbClr val="F8FAFC"/>
                </a:solidFill>
              </a:defRPr>
            </a:pPr>
            <a:r>
              <a:t>1. RAW INPUT: Ingest MPN, Cryptic Part Description, Part Manufacturer string.</a:t>
            </a:r>
          </a:p>
          <a:p>
            <a:pPr>
              <a:spcBef>
                <a:spcPts val="600"/>
              </a:spcBef>
              <a:defRPr sz="1400" b="1">
                <a:solidFill>
                  <a:srgbClr val="F8FAFC"/>
                </a:solidFill>
              </a:defRPr>
            </a:pPr>
            <a:r>
              <a:t>2. INGESTION AGENT: Remove '-- Unbranded --' placeholders &amp; sanitize input tokens.</a:t>
            </a:r>
          </a:p>
          <a:p>
            <a:pPr>
              <a:spcBef>
                <a:spcPts val="600"/>
              </a:spcBef>
              <a:defRPr sz="1400" b="1">
                <a:solidFill>
                  <a:srgbClr val="F8FAFC"/>
                </a:solidFill>
              </a:defRPr>
            </a:pPr>
            <a:r>
              <a:t>3. ENTITY AGENT: Resolve 27k canonical brands/manufacturers &amp; attach trademark symbols (® and ™).</a:t>
            </a:r>
          </a:p>
          <a:p>
            <a:pPr>
              <a:spcBef>
                <a:spcPts val="600"/>
              </a:spcBef>
              <a:defRPr sz="1400" b="1">
                <a:solidFill>
                  <a:srgbClr val="F8FAFC"/>
                </a:solidFill>
              </a:defRPr>
            </a:pPr>
            <a:r>
              <a:t>4. TAXONOMY AGENT: Map UNSPSC &amp; Dept &gt; Class &gt; Fine &gt; Classpath hierarchy.</a:t>
            </a:r>
          </a:p>
          <a:p>
            <a:pPr>
              <a:spcBef>
                <a:spcPts val="600"/>
              </a:spcBef>
              <a:defRPr sz="1400" b="1">
                <a:solidFill>
                  <a:srgbClr val="F8FAFC"/>
                </a:solidFill>
              </a:defRPr>
            </a:pPr>
            <a:r>
              <a:t>5. LOV/UOM AGENT: Extract Key-Value-UOM triplets &amp; format single-space units ('24 in', '120 V').</a:t>
            </a:r>
          </a:p>
          <a:p>
            <a:pPr>
              <a:spcBef>
                <a:spcPts val="600"/>
              </a:spcBef>
              <a:defRPr sz="1400" b="1">
                <a:solidFill>
                  <a:srgbClr val="F8FAFC"/>
                </a:solidFill>
              </a:defRPr>
            </a:pPr>
            <a:r>
              <a:t>6. FRACTION AGENT: Convert 63 inch decimals to trade fractions ('50.25 in' -&gt; '50-1/4 in').</a:t>
            </a:r>
          </a:p>
          <a:p>
            <a:pPr>
              <a:spcBef>
                <a:spcPts val="600"/>
              </a:spcBef>
              <a:defRPr sz="1400" b="1">
                <a:solidFill>
                  <a:srgbClr val="F8FAFC"/>
                </a:solidFill>
              </a:defRPr>
            </a:pPr>
            <a:r>
              <a:t>7. DESCRIPTION AGENT: Generate 5 formats (Invoice ≤40 UPPERCASE, Mobile 60-80 chars).</a:t>
            </a:r>
          </a:p>
          <a:p>
            <a:pPr>
              <a:spcBef>
                <a:spcPts val="600"/>
              </a:spcBef>
              <a:defRPr sz="1400" b="1">
                <a:solidFill>
                  <a:srgbClr val="F8FAFC"/>
                </a:solidFill>
              </a:defRPr>
            </a:pPr>
            <a:r>
              <a:t>8. AUDIT &amp; DELIVERY: Compute confidence score; route low confidence to HITL Queue or export 252-col CSV.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UNIHACK | AI-POWERED PRODUCT INTELLIGENCE FOR INDUSTRIAL COMMERCE</a:t>
            </a:r>
          </a:p>
          <a:p>
            <a:pPr>
              <a:spcBef>
                <a:spcPts val="200"/>
              </a:spcBef>
              <a:defRPr sz="2800" b="1">
                <a:solidFill>
                  <a:srgbClr val="F8FAFC"/>
                </a:solidFill>
              </a:defRPr>
            </a:pPr>
            <a:r>
              <a:t>Wireframes &amp; Glassmorphic UI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937760" cy="4572000"/>
          </a:xfrm>
          <a:prstGeom prst="roundRect">
            <a:avLst/>
          </a:prstGeom>
          <a:solidFill>
            <a:srgbClr val="0E131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828800"/>
            <a:ext cx="4480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</a:defRPr>
            </a:pPr>
            <a:r>
              <a:t>Desktop Glassmorphism Studio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</a:defRPr>
            </a:pPr>
            <a:r>
              <a:t>• Dark glass design system inspired by Vercel/Linear.</a:t>
            </a:r>
            <a:br/>
            <a:r>
              <a:t>• Live multi-agent progression timeline.</a:t>
            </a:r>
            <a:br/>
            <a:r>
              <a:t>• Real-time character gauges for Invoice &amp; Mobile limits.</a:t>
            </a:r>
            <a:br/>
            <a:r>
              <a:t>• Instant CSV download &amp; ground truth benchmark tabs.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4937760" cy="4572000"/>
          </a:xfrm>
          <a:prstGeom prst="roundRect">
            <a:avLst/>
          </a:prstGeom>
          <a:solidFill>
            <a:srgbClr val="0E131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828800"/>
            <a:ext cx="4480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Mobile-First Responsive Layout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</a:defRPr>
            </a:pPr>
            <a:r>
              <a:t>• Scrollable header tab bar wrapper for smartphone screens.</a:t>
            </a:r>
            <a:br/>
            <a:r>
              <a:t>• Adaptive single-column grid collapsing on mobile.</a:t>
            </a:r>
            <a:br/>
            <a:r>
              <a:t>• Touch-optimized 44px minimum tap targets.</a:t>
            </a:r>
            <a:br/>
            <a:r>
              <a:t>• Momentum scrolling tables for 252-column previews.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UNIHACK | AI-POWERED PRODUCT INTELLIGENCE FOR INDUSTRIAL COMMERCE</a:t>
            </a:r>
          </a:p>
          <a:p>
            <a:pPr>
              <a:spcBef>
                <a:spcPts val="200"/>
              </a:spcBef>
              <a:defRPr sz="2800" b="1">
                <a:solidFill>
                  <a:srgbClr val="F8FAFC"/>
                </a:solidFill>
              </a:defRPr>
            </a:pPr>
            <a:r>
              <a:t>Architecture Diagram of Proposed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62895" cy="4572000"/>
          </a:xfrm>
          <a:prstGeom prst="roundRect">
            <a:avLst/>
          </a:prstGeom>
          <a:solidFill>
            <a:srgbClr val="0E131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9784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8B5CF6"/>
                </a:solidFill>
              </a:defRPr>
            </a:pPr>
            <a:r>
              <a:t>FRONTEND LAYER (Vercel): </a:t>
            </a:r>
            <a:r>
              <a:rPr b="0">
                <a:solidFill>
                  <a:srgbClr val="F8FAFC"/>
                </a:solidFill>
              </a:rPr>
              <a:t>React 18 + Vite Web App  |  Bespoke CSS Glassmorphic UI  |  Mobile Touch Wrappers</a:t>
            </a:r>
          </a:p>
          <a:p>
            <a:pPr>
              <a:spcBef>
                <a:spcPts val="1000"/>
              </a:spcBef>
              <a:defRPr sz="1600" b="1">
                <a:solidFill>
                  <a:srgbClr val="8B5CF6"/>
                </a:solidFill>
              </a:defRPr>
            </a:pPr>
            <a:r>
              <a:t>REST API LAYER (Render): </a:t>
            </a:r>
            <a:r>
              <a:rPr b="0">
                <a:solidFill>
                  <a:srgbClr val="F8FAFC"/>
                </a:solidFill>
              </a:rPr>
              <a:t>FastAPI Python Server  |  CORS Gateway  |  Asynchronous Batch Endpoints</a:t>
            </a:r>
          </a:p>
          <a:p>
            <a:pPr>
              <a:spcBef>
                <a:spcPts val="1000"/>
              </a:spcBef>
              <a:defRPr sz="1600" b="1">
                <a:solidFill>
                  <a:srgbClr val="8B5CF6"/>
                </a:solidFill>
              </a:defRPr>
            </a:pPr>
            <a:r>
              <a:t>AI PIPELINE ENGINE: </a:t>
            </a:r>
            <a:r>
              <a:rPr b="0">
                <a:solidFill>
                  <a:srgbClr val="F8FAFC"/>
                </a:solidFill>
              </a:rPr>
              <a:t>7 Sequential Agents: Ingestion -&gt; Entity Resolution -&gt; Taxonomy -&gt; LOV/UOM -&gt; Fractions -&gt; Description Builder -&gt; Audit</a:t>
            </a:r>
          </a:p>
          <a:p>
            <a:pPr>
              <a:spcBef>
                <a:spcPts val="1000"/>
              </a:spcBef>
              <a:defRPr sz="1600" b="1">
                <a:solidFill>
                  <a:srgbClr val="8B5CF6"/>
                </a:solidFill>
              </a:defRPr>
            </a:pPr>
            <a:r>
              <a:t>DATA &amp; MASTER CONTROL: </a:t>
            </a:r>
            <a:r>
              <a:rPr b="0">
                <a:solidFill>
                  <a:srgbClr val="F8FAFC"/>
                </a:solidFill>
              </a:rPr>
              <a:t>27,000+ UniCat Brand Master  |  500+ Master UOM Standards  |  63 Trade Fraction Table  |  UNSPSC Taxonomy</a:t>
            </a:r>
          </a:p>
          <a:p>
            <a:pPr>
              <a:spcBef>
                <a:spcPts val="1000"/>
              </a:spcBef>
              <a:defRPr sz="1600" b="1">
                <a:solidFill>
                  <a:srgbClr val="8B5CF6"/>
                </a:solidFill>
              </a:defRPr>
            </a:pPr>
            <a:r>
              <a:t>OUTPUT &amp; INTEGRATION: </a:t>
            </a:r>
            <a:r>
              <a:rPr b="0">
                <a:solidFill>
                  <a:srgbClr val="F8FAFC"/>
                </a:solidFill>
              </a:rPr>
              <a:t>252-Column Delivery CSV Exporter  |  HITL Review Queue  |  PIM / ERP System Integration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UNIHACK | AI-POWERED PRODUCT INTELLIGENCE FOR INDUSTRIAL COMMERCE</a:t>
            </a:r>
          </a:p>
          <a:p>
            <a:pPr>
              <a:spcBef>
                <a:spcPts val="200"/>
              </a:spcBef>
              <a:defRPr sz="2800" b="1">
                <a:solidFill>
                  <a:srgbClr val="F8FAFC"/>
                </a:solidFill>
              </a:defRPr>
            </a:pPr>
            <a:r>
              <a:t>Technologies Used in the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62895" cy="1051560"/>
          </a:xfrm>
          <a:prstGeom prst="roundRect">
            <a:avLst/>
          </a:prstGeom>
          <a:solidFill>
            <a:srgbClr val="0E131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783080"/>
            <a:ext cx="9875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Frontend Stack: </a:t>
            </a:r>
            <a:r>
              <a:rPr b="0">
                <a:solidFill>
                  <a:srgbClr val="F8FAFC"/>
                </a:solidFill>
              </a:rPr>
              <a:t>React 18, Vite, Lucide Icons, Mobile-First Glassmorphic CSS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834640"/>
            <a:ext cx="10362895" cy="1051560"/>
          </a:xfrm>
          <a:prstGeom prst="roundRect">
            <a:avLst/>
          </a:prstGeom>
          <a:solidFill>
            <a:srgbClr val="0E131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971800"/>
            <a:ext cx="9875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Backend Stack: </a:t>
            </a:r>
            <a:r>
              <a:rPr b="0">
                <a:solidFill>
                  <a:srgbClr val="F8FAFC"/>
                </a:solidFill>
              </a:rPr>
              <a:t>Python 3.11, FastAPI, Uvicorn, Pandas, OpenPyXL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23360"/>
            <a:ext cx="10362895" cy="1051560"/>
          </a:xfrm>
          <a:prstGeom prst="roundRect">
            <a:avLst/>
          </a:prstGeom>
          <a:solidFill>
            <a:srgbClr val="0E131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4160520"/>
            <a:ext cx="9875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AI &amp; Rule Engines: </a:t>
            </a:r>
            <a:r>
              <a:rPr b="0">
                <a:solidFill>
                  <a:srgbClr val="F8FAFC"/>
                </a:solidFill>
              </a:rPr>
              <a:t>Custom Multi-Agent Pipeline, FuzzyWuzzy/SequenceMatcher, UOM 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212080"/>
            <a:ext cx="10362895" cy="1051560"/>
          </a:xfrm>
          <a:prstGeom prst="roundRect">
            <a:avLst/>
          </a:prstGeom>
          <a:solidFill>
            <a:srgbClr val="0E131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5349240"/>
            <a:ext cx="9875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Cloud Deployment: </a:t>
            </a:r>
            <a:r>
              <a:rPr b="0">
                <a:solidFill>
                  <a:srgbClr val="F8FAFC"/>
                </a:solidFill>
              </a:rPr>
              <a:t>Vercel (Frontend Web App), Render (Python REST API)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UNIHACK | AI-POWERED PRODUCT INTELLIGENCE FOR INDUSTRIAL COMMERCE</a:t>
            </a:r>
          </a:p>
          <a:p>
            <a:pPr>
              <a:spcBef>
                <a:spcPts val="200"/>
              </a:spcBef>
              <a:defRPr sz="2800" b="1">
                <a:solidFill>
                  <a:srgbClr val="F8FAFC"/>
                </a:solidFill>
              </a:defRPr>
            </a:pPr>
            <a:r>
              <a:t>Estimated Implementation Cost ($0 Runtime)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62895" cy="4572000"/>
          </a:xfrm>
          <a:prstGeom prst="roundRect">
            <a:avLst/>
          </a:prstGeom>
          <a:solidFill>
            <a:srgbClr val="0E131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9784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700" b="1">
                <a:solidFill>
                  <a:srgbClr val="10B981"/>
                </a:solidFill>
              </a:defRPr>
            </a:pPr>
            <a:r>
              <a:t>• Third-Party API Token Cost: </a:t>
            </a:r>
            <a:r>
              <a:rPr b="0">
                <a:solidFill>
                  <a:srgbClr val="94A3B8"/>
                </a:solidFill>
              </a:rPr>
              <a:t>$0.00 (Zero LLM token fees or monthly subscriptions required).</a:t>
            </a:r>
          </a:p>
          <a:p>
            <a:pPr>
              <a:spcBef>
                <a:spcPts val="1400"/>
              </a:spcBef>
              <a:defRPr sz="1700" b="1">
                <a:solidFill>
                  <a:srgbClr val="10B981"/>
                </a:solidFill>
              </a:defRPr>
            </a:pPr>
            <a:r>
              <a:t>• Cloud Infrastructure Cost: </a:t>
            </a:r>
            <a:r>
              <a:rPr b="0">
                <a:solidFill>
                  <a:srgbClr val="94A3B8"/>
                </a:solidFill>
              </a:rPr>
              <a:t>$0.00 (Runs on Vercel &amp; Render Free Cloud Tiers).</a:t>
            </a:r>
          </a:p>
          <a:p>
            <a:pPr>
              <a:spcBef>
                <a:spcPts val="1400"/>
              </a:spcBef>
              <a:defRPr sz="1700" b="1">
                <a:solidFill>
                  <a:srgbClr val="10B981"/>
                </a:solidFill>
              </a:defRPr>
            </a:pPr>
            <a:r>
              <a:t>• Estimated Annual Savings: </a:t>
            </a:r>
            <a:r>
              <a:rPr b="0">
                <a:solidFill>
                  <a:srgbClr val="94A3B8"/>
                </a:solidFill>
              </a:rPr>
              <a:t>$3,000 to $5,000+ per 100k catalog items vs traditional LLM API approaches.</a:t>
            </a:r>
          </a:p>
          <a:p>
            <a:pPr>
              <a:spcBef>
                <a:spcPts val="1400"/>
              </a:spcBef>
              <a:defRPr sz="1700" b="1">
                <a:solidFill>
                  <a:srgbClr val="10B981"/>
                </a:solidFill>
              </a:defRPr>
            </a:pPr>
            <a:r>
              <a:t>• Maintenance &amp; Scalability: </a:t>
            </a:r>
            <a:r>
              <a:rPr b="0">
                <a:solidFill>
                  <a:srgbClr val="94A3B8"/>
                </a:solidFill>
              </a:rPr>
              <a:t>Lightweight Python/React codebase with deterministic rule engines for instant scaling.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UNIHACK | AI-POWERED PRODUCT INTELLIGENCE FOR INDUSTRIAL COMMERCE</a:t>
            </a:r>
          </a:p>
          <a:p>
            <a:pPr>
              <a:spcBef>
                <a:spcPts val="200"/>
              </a:spcBef>
              <a:defRPr sz="2800" b="1">
                <a:solidFill>
                  <a:srgbClr val="F8FAFC"/>
                </a:solidFill>
              </a:defRPr>
            </a:pPr>
            <a:r>
              <a:t>Snapshots of the MVP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937760" cy="4572000"/>
          </a:xfrm>
          <a:prstGeom prst="roundRect">
            <a:avLst/>
          </a:prstGeom>
          <a:solidFill>
            <a:srgbClr val="0E131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828800"/>
            <a:ext cx="4480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Pipeline Studio &amp; Batch Engine</a:t>
            </a:r>
          </a:p>
          <a:p>
            <a:pPr>
              <a:spcBef>
                <a:spcPts val="1200"/>
              </a:spcBef>
              <a:defRPr sz="1400">
                <a:solidFill>
                  <a:srgbClr val="94A3B8"/>
                </a:solidFill>
              </a:defRPr>
            </a:pPr>
            <a:r>
              <a:t>• Interactive 7-Agent Step Progression.</a:t>
            </a:r>
            <a:br/>
            <a:r>
              <a:t>• 1,000 Catalog Batch Processor.</a:t>
            </a:r>
            <a:br/>
            <a:r>
              <a:t>• 252-Column Delivery CSV Exporter.</a:t>
            </a:r>
            <a:br/>
            <a:r>
              <a:t>• Dynamic Character Gauges (Invoice ≤40 UPPERCASE).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4937760" cy="4572000"/>
          </a:xfrm>
          <a:prstGeom prst="roundRect">
            <a:avLst/>
          </a:prstGeom>
          <a:solidFill>
            <a:srgbClr val="0E131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828800"/>
            <a:ext cx="4480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</a:defRPr>
            </a:pPr>
            <a:r>
              <a:t>Benchmark View &amp; HITL Studio</a:t>
            </a:r>
          </a:p>
          <a:p>
            <a:pPr>
              <a:spcBef>
                <a:spcPts val="1200"/>
              </a:spcBef>
              <a:defRPr sz="1400">
                <a:solidFill>
                  <a:srgbClr val="94A3B8"/>
                </a:solidFill>
              </a:defRPr>
            </a:pPr>
            <a:r>
              <a:t>• 100% Pass Rate on Character Limit Rules.</a:t>
            </a:r>
            <a:br/>
            <a:r>
              <a:t>• Ground Truth Accuracy Scorecards.</a:t>
            </a:r>
            <a:br/>
            <a:r>
              <a:t>• Data Steward Inspection Queue for Flagged Rows.</a:t>
            </a:r>
            <a:br/>
            <a:r>
              <a:t>• Master Content Guidelines Reference Viewer.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UNIHACK | AI-POWERED PRODUCT INTELLIGENCE FOR INDUSTRIAL COMMERCE</a:t>
            </a:r>
          </a:p>
          <a:p>
            <a:pPr>
              <a:spcBef>
                <a:spcPts val="200"/>
              </a:spcBef>
              <a:defRPr sz="2800" b="1">
                <a:solidFill>
                  <a:srgbClr val="F8FAFC"/>
                </a:solidFill>
              </a:defRPr>
            </a:pPr>
            <a:r>
              <a:t>Future Development &amp; Strategic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62895" cy="4572000"/>
          </a:xfrm>
          <a:prstGeom prst="roundRect">
            <a:avLst/>
          </a:prstGeom>
          <a:solidFill>
            <a:srgbClr val="0E131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9784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800" b="1">
                <a:solidFill>
                  <a:srgbClr val="8B5CF6"/>
                </a:solidFill>
              </a:defRPr>
            </a:pPr>
            <a:r>
              <a:t>1. Vision-Language Model Integration: </a:t>
            </a:r>
            <a:r>
              <a:rPr b="0">
                <a:solidFill>
                  <a:srgbClr val="94A3B8"/>
                </a:solidFill>
              </a:rPr>
              <a:t>Incorporate multimodal vision models to extract dimensional attributes directly from PDF catalog spec sheets and line drawings.</a:t>
            </a:r>
          </a:p>
          <a:p>
            <a:pPr>
              <a:spcBef>
                <a:spcPts val="1600"/>
              </a:spcBef>
              <a:defRPr sz="1800" b="1">
                <a:solidFill>
                  <a:srgbClr val="8B5CF6"/>
                </a:solidFill>
              </a:defRPr>
            </a:pPr>
            <a:r>
              <a:t>2. Automated PIM/ERP Connectors: </a:t>
            </a:r>
            <a:r>
              <a:rPr b="0">
                <a:solidFill>
                  <a:srgbClr val="94A3B8"/>
                </a:solidFill>
              </a:rPr>
              <a:t>Build native webhook connectors for Akeneo, InRiver, and SAP Commerce Cloud.</a:t>
            </a:r>
          </a:p>
          <a:p>
            <a:pPr>
              <a:spcBef>
                <a:spcPts val="1600"/>
              </a:spcBef>
              <a:defRPr sz="1800" b="1">
                <a:solidFill>
                  <a:srgbClr val="8B5CF6"/>
                </a:solidFill>
              </a:defRPr>
            </a:pPr>
            <a:r>
              <a:t>3. Continuous Active Learning: </a:t>
            </a:r>
            <a:r>
              <a:rPr b="0">
                <a:solidFill>
                  <a:srgbClr val="94A3B8"/>
                </a:solidFill>
              </a:rPr>
              <a:t>Feedback loop from HITL Steward overrides automatically retrains entity resolution dictionaries.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UNIHACK | AI-POWERED PRODUCT INTELLIGENCE FOR INDUSTRIAL COMMERCE</a:t>
            </a:r>
          </a:p>
          <a:p>
            <a:pPr>
              <a:spcBef>
                <a:spcPts val="200"/>
              </a:spcBef>
              <a:defRPr sz="2800" b="1">
                <a:solidFill>
                  <a:srgbClr val="F8FAFC"/>
                </a:solidFill>
              </a:defRPr>
            </a:pPr>
            <a:r>
              <a:t>Project Submission Links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62895" cy="1371600"/>
          </a:xfrm>
          <a:prstGeom prst="roundRect">
            <a:avLst/>
          </a:prstGeom>
          <a:solidFill>
            <a:srgbClr val="0E131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78308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1. GitHub Public Repository: </a:t>
            </a:r>
            <a:r>
              <a:rPr>
                <a:solidFill>
                  <a:srgbClr val="06B6D4"/>
                </a:solidFill>
              </a:rPr>
              <a:t>https://github.com/Sahilmore469/unilogic-ai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Complete open-source codebase, multi-agent engine, and deployment scripts.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200400"/>
            <a:ext cx="10362895" cy="1371600"/>
          </a:xfrm>
          <a:prstGeom prst="roundRect">
            <a:avLst/>
          </a:prstGeom>
          <a:solidFill>
            <a:srgbClr val="0E131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33756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2. Working Prototype Link: </a:t>
            </a:r>
            <a:r>
              <a:rPr>
                <a:solidFill>
                  <a:srgbClr val="10B981"/>
                </a:solidFill>
              </a:rPr>
              <a:t>https://unilogic-ai.vercel.app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Live production web application deployed on Vercel connected to Render API.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754880"/>
            <a:ext cx="10362895" cy="1371600"/>
          </a:xfrm>
          <a:prstGeom prst="roundRect">
            <a:avLst/>
          </a:prstGeom>
          <a:solidFill>
            <a:srgbClr val="0E131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489204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3. Live Backend API (Render): </a:t>
            </a:r>
            <a:r>
              <a:rPr>
                <a:solidFill>
                  <a:srgbClr val="3B82F6"/>
                </a:solidFill>
              </a:rPr>
              <a:t>https://unilogic-ai-backend.onrender.com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High-throughput Python FastAPI service running all 7 AI enrichment agents.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0E131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828800"/>
            <a:ext cx="889985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3B82F6"/>
                </a:solidFill>
              </a:defRPr>
            </a:pPr>
            <a:r>
              <a:t>UniHack</a:t>
            </a:r>
          </a:p>
          <a:p>
            <a:pPr>
              <a:spcBef>
                <a:spcPts val="1000"/>
              </a:spcBef>
              <a:defRPr sz="4400" b="1">
                <a:solidFill>
                  <a:srgbClr val="F8FAFC"/>
                </a:solidFill>
              </a:defRPr>
            </a:pPr>
            <a:r>
              <a:t>Thank You!</a:t>
            </a:r>
          </a:p>
          <a:p>
            <a:pPr>
              <a:spcBef>
                <a:spcPts val="1600"/>
              </a:spcBef>
              <a:defRPr sz="1800">
                <a:solidFill>
                  <a:srgbClr val="94A3B8"/>
                </a:solidFill>
              </a:defRPr>
            </a:pPr>
            <a:r>
              <a:t>Unilogic AI: AI-Powered Product Intelligence for Industrial Commerce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